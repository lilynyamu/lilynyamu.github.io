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lian Nyamu" userId="f8822a8f74089a5c" providerId="LiveId" clId="{80BB0343-9DFA-4C3A-9D2E-50B6ED5EECEC}"/>
    <pc:docChg chg="undo custSel addSld modSld">
      <pc:chgData name="Lilian Nyamu" userId="f8822a8f74089a5c" providerId="LiveId" clId="{80BB0343-9DFA-4C3A-9D2E-50B6ED5EECEC}" dt="2026-03-10T12:48:42.517" v="31" actId="14100"/>
      <pc:docMkLst>
        <pc:docMk/>
      </pc:docMkLst>
      <pc:sldChg chg="modSp mod modClrScheme chgLayout">
        <pc:chgData name="Lilian Nyamu" userId="f8822a8f74089a5c" providerId="LiveId" clId="{80BB0343-9DFA-4C3A-9D2E-50B6ED5EECEC}" dt="2026-03-10T12:47:06.762" v="1" actId="700"/>
        <pc:sldMkLst>
          <pc:docMk/>
          <pc:sldMk cId="4001540928" sldId="260"/>
        </pc:sldMkLst>
        <pc:spChg chg="mod ord">
          <ac:chgData name="Lilian Nyamu" userId="f8822a8f74089a5c" providerId="LiveId" clId="{80BB0343-9DFA-4C3A-9D2E-50B6ED5EECEC}" dt="2026-03-10T12:47:06.762" v="1" actId="700"/>
          <ac:spMkLst>
            <pc:docMk/>
            <pc:sldMk cId="4001540928" sldId="260"/>
            <ac:spMk id="2" creationId="{6744D1C7-3F2D-4E8D-1066-9B683988D79D}"/>
          </ac:spMkLst>
        </pc:spChg>
        <pc:spChg chg="mod ord">
          <ac:chgData name="Lilian Nyamu" userId="f8822a8f74089a5c" providerId="LiveId" clId="{80BB0343-9DFA-4C3A-9D2E-50B6ED5EECEC}" dt="2026-03-10T12:47:06.762" v="1" actId="700"/>
          <ac:spMkLst>
            <pc:docMk/>
            <pc:sldMk cId="4001540928" sldId="260"/>
            <ac:spMk id="4" creationId="{D36B3794-B8B7-5AD5-4B8B-6C77188420F1}"/>
          </ac:spMkLst>
        </pc:spChg>
        <pc:spChg chg="mod ord">
          <ac:chgData name="Lilian Nyamu" userId="f8822a8f74089a5c" providerId="LiveId" clId="{80BB0343-9DFA-4C3A-9D2E-50B6ED5EECEC}" dt="2026-03-10T12:47:06.762" v="1" actId="700"/>
          <ac:spMkLst>
            <pc:docMk/>
            <pc:sldMk cId="4001540928" sldId="260"/>
            <ac:spMk id="5" creationId="{9FBA3277-107A-34AD-18AE-6823594AB1B6}"/>
          </ac:spMkLst>
        </pc:spChg>
      </pc:sldChg>
      <pc:sldChg chg="addSp delSp modSp new mod">
        <pc:chgData name="Lilian Nyamu" userId="f8822a8f74089a5c" providerId="LiveId" clId="{80BB0343-9DFA-4C3A-9D2E-50B6ED5EECEC}" dt="2026-03-10T12:48:42.517" v="31" actId="14100"/>
        <pc:sldMkLst>
          <pc:docMk/>
          <pc:sldMk cId="4188686115" sldId="261"/>
        </pc:sldMkLst>
        <pc:spChg chg="mod">
          <ac:chgData name="Lilian Nyamu" userId="f8822a8f74089a5c" providerId="LiveId" clId="{80BB0343-9DFA-4C3A-9D2E-50B6ED5EECEC}" dt="2026-03-10T12:47:40.315" v="4"/>
          <ac:spMkLst>
            <pc:docMk/>
            <pc:sldMk cId="4188686115" sldId="261"/>
            <ac:spMk id="2" creationId="{9BEF540B-7C42-CF04-18D3-8DB073081348}"/>
          </ac:spMkLst>
        </pc:spChg>
        <pc:spChg chg="del">
          <ac:chgData name="Lilian Nyamu" userId="f8822a8f74089a5c" providerId="LiveId" clId="{80BB0343-9DFA-4C3A-9D2E-50B6ED5EECEC}" dt="2026-03-10T12:47:31.145" v="3"/>
          <ac:spMkLst>
            <pc:docMk/>
            <pc:sldMk cId="4188686115" sldId="261"/>
            <ac:spMk id="3" creationId="{60B386EE-4505-677C-C7CA-2F0FA22DCC49}"/>
          </ac:spMkLst>
        </pc:spChg>
        <pc:spChg chg="add mod">
          <ac:chgData name="Lilian Nyamu" userId="f8822a8f74089a5c" providerId="LiveId" clId="{80BB0343-9DFA-4C3A-9D2E-50B6ED5EECEC}" dt="2026-03-10T12:48:42.517" v="31" actId="14100"/>
          <ac:spMkLst>
            <pc:docMk/>
            <pc:sldMk cId="4188686115" sldId="261"/>
            <ac:spMk id="4" creationId="{9BB512F1-5F87-65CB-6D33-99B243E3CF2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AD35-0E98-229F-CE19-64DB366FC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C8AE7-EAC7-9DA4-1496-3FFA6A7A4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2D7C5-0784-6D6F-18C6-DB2BE9A99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221E4-16CA-48C7-8376-38DE398FCC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A768B-68FB-D98D-D694-BF31F1B3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BB54C-4C67-83AB-D091-3C3D3DA70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F20C3-1E5B-4139-BE46-E5C8A37C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982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073BA-0991-8C48-C98B-90636DD0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AAA15-2338-AC12-3ECC-E49C41CB6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EE450-F7D8-CA6F-7EEA-BF0BEB84A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221E4-16CA-48C7-8376-38DE398FCC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00F64-BA14-7ACF-9808-A6C957001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1DDA3-E66E-B7F6-426F-79DAC491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F20C3-1E5B-4139-BE46-E5C8A37C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4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18D7-9187-6A23-6087-4B04A371D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9586E-0E8B-DB98-2D46-C725FE6FB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D9E74-05F4-EB56-1277-72BF7B062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221E4-16CA-48C7-8376-38DE398FCC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B9E18-E081-AACC-A506-F22DF4875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1B783-B393-EC99-421B-1E2AF0B6B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F20C3-1E5B-4139-BE46-E5C8A37C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34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7106C-4802-BE1D-4463-0A7976976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17464-02C4-0ADB-D21F-FFC903ABE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214E8-BB39-D065-2817-DD0D5F212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BF2B8-318C-D6B8-ED2C-684018BBF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221E4-16CA-48C7-8376-38DE398FCC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148F4-C113-C6E6-E90E-5D65BE55B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D0201-BB8C-14DB-440B-449DC1CDA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F20C3-1E5B-4139-BE46-E5C8A37C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73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04A10-6FAB-89DC-C885-FD858B01A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009D1-1720-EDA8-375F-F6D54FDD6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557BC-A2A4-2881-B24A-9DB4D770B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40EE02-0ABA-0458-EABA-17A3C4BE3E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D5A731-C6EE-1E61-D3B2-255E29346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8C3112-0E22-62D3-EACA-4ABBBD2BF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221E4-16CA-48C7-8376-38DE398FCC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B3646E-17FA-1E26-5185-A29BAB29D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C57E9A-63C8-14AF-E2D2-0F46235C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F20C3-1E5B-4139-BE46-E5C8A37C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39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FDEE2-FCDB-7217-00BD-F6BB9A8C8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F49B77-0CC9-EE4F-CF65-21CDBD163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221E4-16CA-48C7-8376-38DE398FCC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73B54-BE14-90FB-2CF9-94AC647FF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E047B-C4A1-EEA1-E93F-5785D814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F20C3-1E5B-4139-BE46-E5C8A37C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11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5DB080-8D5F-7EDE-A72D-ED4725B6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221E4-16CA-48C7-8376-38DE398FCC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4A9AF-C1AD-8171-15E8-EDEEC195C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9ECC4-DF54-7446-8262-E7424F30B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F20C3-1E5B-4139-BE46-E5C8A37C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56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95AC0-E03F-F975-8A80-CCDD1D1D4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449D3-863D-ED72-7A0F-298A8FD22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5E0084-E754-C998-BA07-7700F01B2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EF067-16F2-FD45-6949-A6A65E931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221E4-16CA-48C7-8376-38DE398FCC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2D60F-B551-2758-DD63-8C0215B3B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5DD9D-63E0-1E21-4234-FBA2C259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F20C3-1E5B-4139-BE46-E5C8A37C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77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3540-13C4-1EED-A869-49F3E8EDF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A68E83-5522-884F-393F-C09CFE5AAB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4931D-BC43-0298-2018-0371B73E6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B2405-24A4-7E63-B46D-16EF60DE3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221E4-16CA-48C7-8376-38DE398FCC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4A7DC-5203-FEAA-3783-1A4E6192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9D42D-1E19-3478-6417-38276035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F20C3-1E5B-4139-BE46-E5C8A37C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50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3652B-13A8-1DA0-5853-2089360B9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9A0E60-4452-35D8-8E6A-67CDEBACC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07298-6C74-5888-4D00-95D52927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221E4-16CA-48C7-8376-38DE398FCC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BECFD-3BD0-E217-3ED3-F0D9B8F4E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B6A91-B060-1C98-975C-7DCA9F37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F20C3-1E5B-4139-BE46-E5C8A37C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996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CF3F10-B551-DFD4-94F8-C96C959C31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89BAF-69D2-877A-E615-3AE59B309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DFB8C-3055-63BF-2733-D89F90AC9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221E4-16CA-48C7-8376-38DE398FCC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214D5-ED40-A847-A446-C6261F98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3D5B4-7BA3-56C6-47E6-62C5E372C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F20C3-1E5B-4139-BE46-E5C8A37C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933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367508-CC2A-8733-1DC9-33078835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E7FB5-36D4-3660-5EBD-4BC44D306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1AA9D-4AD5-FB24-B1F4-857B1727B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221E4-16CA-48C7-8376-38DE398FCC5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E8706-1C53-673E-B121-9FC1DC864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A9E8D-18C1-B6B3-F5D6-792492F50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F20C3-1E5B-4139-BE46-E5C8A37C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0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A48F-79A8-E56F-BE54-3D2573AF10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AI-Driven Credit Scoring: Revolutionizing Financial Inclusion in Kenya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5EF4A0-6A58-FDC6-DA64-31D5B5769A2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368090"/>
            <a:ext cx="9251059" cy="21236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Presenter: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Lilian Nyamu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Institution: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Dedan Kimathi University of Technology (DeKUT)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Field: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B.Sc. Business Information Technology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Visual: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 high-quality image of a smartphone displaying a "Loan Approved" notification.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697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73237-D54F-6D32-77C4-222ABCA3A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A0A0A"/>
                </a:solidFill>
                <a:latin typeface="Google Sans"/>
              </a:rPr>
              <a:t>The Problem – The "Credit Gap"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E22E66-FE95-B43C-B2DC-E9D2022F8C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08796"/>
            <a:ext cx="10595721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</a:rPr>
              <a:t>Context: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</a:rPr>
              <a:t> Traditional banking requires a formal credit history and physical collateral (title deeds, logbooks).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</a:rPr>
              <a:t>The Issue: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</a:rPr>
              <a:t> Most Kenyan SMEs and individuals are "unbanked" or "underbanked" because they lack these assets.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</a:rPr>
              <a:t>The Gap: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</a:rPr>
              <a:t> Millions of entrepreneurs are locked out of capital, slowing down economic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5582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3A232-7176-08FF-ECE9-CD5329EF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A0A0A"/>
                </a:solidFill>
                <a:latin typeface="Google Sans"/>
              </a:rPr>
              <a:t>How It Works – The BIT Perspective</a:t>
            </a: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65DA52-9B08-EF11-DDFE-965B3C76CE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9329"/>
            <a:ext cx="10362580" cy="31239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Data Sources: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Mobile money transaction velocity (M-Pesa/Airtel Money).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Utility bill payment history (KPLC/Water).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Social media activity and app usage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The Process: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Algorithms analyze thousands of variables in milliseconds to assign a "Credit Score.“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: Business Benefits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Speed: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Loan processing moves from weeks to seconds.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Efficiency: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Lower operational costs for financial institutions as manual auditing is removed.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Market Expansion: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Banks can safely reach customers in remote areas (like Limuru or rural Nyeri) without physical branches.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0503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ACA7B-EF14-8FD3-CCBE-845DA528F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0A0A0A"/>
                </a:solidFill>
                <a:latin typeface="Google Sans"/>
              </a:rPr>
              <a:t>Definition: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 An automated process using </a:t>
            </a:r>
            <a:r>
              <a:rPr lang="en-US" altLang="en-US" b="1" dirty="0">
                <a:solidFill>
                  <a:srgbClr val="0A0A0A"/>
                </a:solidFill>
                <a:latin typeface="Google Sans"/>
              </a:rPr>
              <a:t>Machine Learning (ML)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 to determine a borrower's creditworthiness.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0A0A0A"/>
                </a:solidFill>
                <a:latin typeface="Google Sans"/>
              </a:rPr>
              <a:t>The Shift: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 Moving from </a:t>
            </a:r>
            <a:r>
              <a:rPr lang="en-US" altLang="en-US" i="1" dirty="0">
                <a:solidFill>
                  <a:srgbClr val="0A0A0A"/>
                </a:solidFill>
                <a:latin typeface="Google Sans"/>
              </a:rPr>
              <a:t>Traditional Data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 (bank statements) to </a:t>
            </a:r>
            <a:r>
              <a:rPr lang="en-US" altLang="en-US" i="1" dirty="0">
                <a:solidFill>
                  <a:srgbClr val="0A0A0A"/>
                </a:solidFill>
                <a:latin typeface="Google Sans"/>
              </a:rPr>
              <a:t>Alternative Data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0A0A0A"/>
                </a:solidFill>
                <a:latin typeface="Google Sans"/>
              </a:rPr>
              <a:t>Key Concept: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 It analyzes digital footprints to predict financial behavior.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B861ED-9C2A-05B5-9DC8-CD94FC0B1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199" y="427742"/>
            <a:ext cx="4409049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 Innovation – What is AI Credit Scoring?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69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D1C7-3F2D-4E8D-1066-9B683988D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2800" b="1" dirty="0">
                <a:solidFill>
                  <a:srgbClr val="0A0A0A"/>
                </a:solidFill>
                <a:latin typeface="Google Sans"/>
              </a:rPr>
              <a:t>Technical Architecture (The IT Side) </a:t>
            </a:r>
            <a:br>
              <a:rPr lang="en-US" altLang="en-US" sz="2800" b="1" dirty="0">
                <a:solidFill>
                  <a:srgbClr val="0A0A0A"/>
                </a:solidFill>
                <a:latin typeface="Google Sans"/>
              </a:rPr>
            </a:b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Challenges and Ethical Considerations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B3794-B8B7-5AD5-4B8B-6C77188420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0A0A0A"/>
                </a:solidFill>
                <a:latin typeface="Google Sans"/>
              </a:rPr>
              <a:t>Data Privacy: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 Adhering to the </a:t>
            </a:r>
            <a:r>
              <a:rPr lang="en-US" altLang="en-US" b="1" dirty="0">
                <a:solidFill>
                  <a:srgbClr val="0A0A0A"/>
                </a:solidFill>
                <a:latin typeface="Google Sans"/>
              </a:rPr>
              <a:t>Kenya Data Protection Act 2019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 to ensure user consent.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0A0A0A"/>
                </a:solidFill>
                <a:latin typeface="Google Sans"/>
              </a:rPr>
              <a:t>Algorithmic Bias: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 Preventing the AI from discriminating based on gender, age, or location.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0A0A0A"/>
                </a:solidFill>
                <a:latin typeface="Google Sans"/>
              </a:rPr>
              <a:t>Transparency: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 The "Black Box" challenge—ensuring that if a loan is denied, the system can explain why.</a:t>
            </a:r>
          </a:p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FBA3277-107A-34AD-18AE-6823594AB1B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16000" y="1387583"/>
            <a:ext cx="4325257" cy="50783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Data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 Using APIs to pull data from various telecommunication and utility providers.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Predictive Modeling: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 Utilizing Neural Networks to identify patterns of "Reliable" vs. "High-Risk" borrowers.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Security: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 Implementing encryption and secure databases (SQL/PostgreSQL) to handle sensitive financial data..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01540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F540B-7C42-CF04-18D3-8DB073081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A0A0A"/>
                </a:solidFill>
                <a:latin typeface="Google Sans"/>
              </a:rPr>
              <a:t>Conclusion &amp; The Future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B512F1-5F87-65CB-6D33-99B243E3CF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31826"/>
            <a:ext cx="10990943" cy="17389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</a:rPr>
              <a:t>Summary: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</a:rPr>
              <a:t> AI-driven scoring is the bridge between technology and business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</a:rPr>
              <a:t>Future Outlook: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</a:rPr>
              <a:t> Integration with Blockchain for even more secure and decentralized credit profiles.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</a:rPr>
              <a:t>Closing Quote: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</a:rPr>
              <a:t> "Better Life Through Technology" – Empowering every Kenyan entrepreneur through digital trust.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686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447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Google Sans</vt:lpstr>
      <vt:lpstr>Office Theme</vt:lpstr>
      <vt:lpstr>AI-Driven Credit Scoring: Revolutionizing Financial Inclusion in Kenya</vt:lpstr>
      <vt:lpstr>The Problem – The "Credit Gap" </vt:lpstr>
      <vt:lpstr>How It Works – The BIT Perspective</vt:lpstr>
      <vt:lpstr>The Innovation – What is AI Credit Scoring?  </vt:lpstr>
      <vt:lpstr>Technical Architecture (The IT Side)  Challenges and Ethical Considerations  </vt:lpstr>
      <vt:lpstr>Conclusion &amp; The Future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Lilian Nyamu</dc:creator>
  <cp:lastModifiedBy>Lilian Nyamu</cp:lastModifiedBy>
  <cp:revision>1</cp:revision>
  <dcterms:created xsi:type="dcterms:W3CDTF">2026-03-10T12:43:12Z</dcterms:created>
  <dcterms:modified xsi:type="dcterms:W3CDTF">2026-03-10T12:48:48Z</dcterms:modified>
</cp:coreProperties>
</file>